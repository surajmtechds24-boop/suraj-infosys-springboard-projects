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84" r:id="rId2"/>
    <p:sldId id="257" r:id="rId3"/>
    <p:sldId id="259" r:id="rId4"/>
    <p:sldId id="260" r:id="rId5"/>
    <p:sldId id="263" r:id="rId6"/>
    <p:sldId id="264" r:id="rId7"/>
    <p:sldId id="266" r:id="rId8"/>
    <p:sldId id="285" r:id="rId9"/>
    <p:sldId id="267" r:id="rId10"/>
    <p:sldId id="268" r:id="rId11"/>
    <p:sldId id="283" r:id="rId12"/>
    <p:sldId id="271" r:id="rId13"/>
    <p:sldId id="280" r:id="rId14"/>
    <p:sldId id="281" r:id="rId15"/>
    <p:sldId id="278" r:id="rId16"/>
    <p:sldId id="269" r:id="rId17"/>
    <p:sldId id="270" r:id="rId18"/>
    <p:sldId id="277" r:id="rId19"/>
    <p:sldId id="273" r:id="rId20"/>
    <p:sldId id="274" r:id="rId21"/>
    <p:sldId id="27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353" autoAdjust="0"/>
    <p:restoredTop sz="93678" autoAdjust="0"/>
  </p:normalViewPr>
  <p:slideViewPr>
    <p:cSldViewPr snapToGrid="0">
      <p:cViewPr varScale="1">
        <p:scale>
          <a:sx n="80" d="100"/>
          <a:sy n="80" d="100"/>
        </p:scale>
        <p:origin x="21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2E033C-65DF-40DB-86E1-18402B4211B3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924F5E-99D5-4999-BA2A-1B7022BDA7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238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924F5E-99D5-4999-BA2A-1B7022BDA75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671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07EDC-F979-9DCC-1C24-AB39A98373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229D14-4C60-896A-1E6B-3792C0592B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A7F86-52ED-5363-5CDB-97C3392C0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FADD9-8306-419E-AA17-00A3301B5247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58084-0CD0-738C-E803-E8A589D7E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38D18-26BE-705B-0E3A-58AA24C93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3E8DB-14C2-44DB-991C-9339929AF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513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94DB7-1020-5C41-C37A-5022CADE7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FE2F0-3C42-1B2B-1087-24BB52F69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44EC8-C1FB-A0AE-CCAD-210AA2A76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FADD9-8306-419E-AA17-00A3301B5247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1CFE0-8A83-EEDD-574E-D3D388B3B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13EF3-BF32-BA5A-FB44-40208DC7E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3E8DB-14C2-44DB-991C-9339929AF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0071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CB9BB-8210-46F5-5F48-53C54E272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FA3D5E-E0E1-DF90-4CC7-0BBBB75B9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6C543-B6C3-F75A-DD72-67EF06D40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FADD9-8306-419E-AA17-00A3301B5247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9C167-C7E0-5B6F-D705-92AB6A335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D8378-8C4F-E25D-D791-2B4A3462E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3E8DB-14C2-44DB-991C-9339929AF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2936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003FE-311E-8E07-83F2-FBDF8D453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86E7D-E8DB-4CD6-76B3-8CF5EEDFE6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0C5604-3466-A776-EA9F-88C01509FA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3C759A-C234-BF7A-B774-D5745B18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FADD9-8306-419E-AA17-00A3301B5247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9B266B-3CFB-4734-3359-6DD0F1D3E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DBE23-9F32-728F-5A7D-C50445125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3E8DB-14C2-44DB-991C-9339929AF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894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21446-FDCB-4620-4B1E-5EC5EA495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181C1B-804B-A45B-3EFB-09463642D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6DE7C9-A637-4C59-E773-EBFD37D1B4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54B22A-D906-3610-14D8-658F723975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4F60C5-F406-DC6E-31D3-653BA5E2FA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48FF1D-0C02-AF03-4791-53F077769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FADD9-8306-419E-AA17-00A3301B5247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DBB238-893E-ED15-E985-855F84908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3623E5-8A2B-85CA-0FB9-5752FE72C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3E8DB-14C2-44DB-991C-9339929AF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4117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E5659-04C1-4F8A-B7E4-325A16BAA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38FB70-608F-9E05-12C2-2BDA89F2D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FADD9-8306-419E-AA17-00A3301B5247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B0DB82-2E2F-EF11-89C7-53F7AE2E9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5D3032-EF49-07BB-39A8-156F1E560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3E8DB-14C2-44DB-991C-9339929AF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984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6F60C7-5A6B-3A58-FCC1-F3E979921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FADD9-8306-419E-AA17-00A3301B5247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9ADE3C-AE5D-CBB5-AB54-F59A925A1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71AA1-627A-0432-1E0B-0DA055863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3E8DB-14C2-44DB-991C-9339929AF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641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1D024-F001-F93A-FF58-BF435BFBD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822BA-E781-42BF-7426-1F0301488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F8A514-1980-3186-5C3A-AE5F4D5B5F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D4E34-FF12-DAC3-FEF4-016E7BBE2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FADD9-8306-419E-AA17-00A3301B5247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A912F4-29BA-D689-34B7-CC401DF78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28F959-0FDB-5772-799E-B24302808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3E8DB-14C2-44DB-991C-9339929AF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5675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F555E-6741-96C7-508E-4CDD6676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620CC4-4D02-2F24-554A-62AD36E430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6B7BBA-6A6F-58B4-BDEA-6691ADDCC9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7AA4BA-0894-786C-A48A-29471D064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FADD9-8306-419E-AA17-00A3301B5247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AE91E6-DFAA-80EF-23BF-B4F8A1CEE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F9F6AE-1D2A-D483-CF2C-0D89C0033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3E8DB-14C2-44DB-991C-9339929AF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400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6705B-7D9A-8EB3-DB4F-909D673BA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DDD1CC-F597-BE0B-21FD-BCFF76240A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B9B6A-C817-91D6-D660-C082E2C71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FADD9-8306-419E-AA17-00A3301B5247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ACA79-C1FB-43B0-7C6F-3113F9F41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DB0BD-5CA1-A653-F846-E68A908FB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3E8DB-14C2-44DB-991C-9339929AF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5113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41568D-82A1-F4D3-CD22-B36098E2EF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43AD33-D9CC-1783-104D-9700A441B3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75024-E521-777E-5354-D08F1D890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FADD9-8306-419E-AA17-00A3301B5247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55E914-B0A1-66FA-5246-203B40409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D27E58-2940-AE95-02D0-8CB6950AE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3E8DB-14C2-44DB-991C-9339929AF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0907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437F47-9B63-8D80-E81E-BA7947173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8EE2D5-2B16-DB1F-3A49-34F488F2E4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C2958-0D46-8666-0BAD-54E22876B2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AFADD9-8306-419E-AA17-00A3301B5247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8D66D-C092-AA41-CB01-0AA0124C31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6EB41-7FDB-006A-E1F8-5996ECB2B9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63E8DB-14C2-44DB-991C-9339929AF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6371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9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jp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E144D6-93CA-1C18-F972-EB874AAF53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492180"/>
          </a:xfrm>
        </p:spPr>
      </p:pic>
    </p:spTree>
    <p:extLst>
      <p:ext uri="{BB962C8B-B14F-4D97-AF65-F5344CB8AC3E}">
        <p14:creationId xmlns:p14="http://schemas.microsoft.com/office/powerpoint/2010/main" val="1455441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1FF05-B0FF-5078-814C-AFFCCA149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69" y="-39950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085F1B-CC79-5805-DCC8-5B70C5F7B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869" y="1026619"/>
            <a:ext cx="12045131" cy="6032090"/>
          </a:xfrm>
        </p:spPr>
        <p:txBody>
          <a:bodyPr>
            <a:normAutofit lnSpcReduction="10000"/>
          </a:bodyPr>
          <a:lstStyle/>
          <a:p>
            <a:r>
              <a:rPr lang="en-US" sz="2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PCBs → Heart of every electronic device (mobile, laptop, car, satellite)</a:t>
            </a:r>
          </a:p>
          <a:p>
            <a:pPr marL="0" indent="0">
              <a:buNone/>
            </a:pPr>
            <a:endParaRPr lang="en-US" sz="2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Even small manufacturing defects → Device failure + High cost + Safety risk</a:t>
            </a:r>
          </a:p>
          <a:p>
            <a:pPr marL="0" indent="0">
              <a:buNone/>
            </a:pPr>
            <a:endParaRPr lang="en-US" sz="2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have serious limitations: </a:t>
            </a:r>
          </a:p>
          <a:p>
            <a:pPr marL="0" indent="0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Manual inspection → Slow, tiring, human error</a:t>
            </a:r>
          </a:p>
          <a:p>
            <a:pPr marL="0" indent="0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Rule-based AOI → High false positives, misses                                                                         </a:t>
            </a:r>
          </a:p>
          <a:p>
            <a:pPr marL="0" indent="0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tiny/complex defects</a:t>
            </a:r>
          </a:p>
          <a:p>
            <a:pPr marL="0" indent="0">
              <a:buNone/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Growing need for: </a:t>
            </a:r>
          </a:p>
          <a:p>
            <a:pPr marL="0" indent="0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 &amp; accurate defect detection </a:t>
            </a:r>
          </a:p>
          <a:p>
            <a:pPr marL="0" indent="0">
              <a:buNone/>
            </a:pPr>
            <a:r>
              <a:rPr lang="en-US" sz="2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Precise location (not just yes/no) </a:t>
            </a:r>
          </a:p>
          <a:p>
            <a:pPr marL="0" indent="0">
              <a:buNone/>
            </a:pPr>
            <a:r>
              <a:rPr lang="en-US" sz="2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Clear visual output for operators</a:t>
            </a:r>
          </a:p>
          <a:p>
            <a:pPr marL="0" indent="0">
              <a:buNone/>
            </a:pPr>
            <a:endParaRPr lang="en-US" sz="2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Goal: Build intelligent automated system using Deep Learning (YOLOv8) + Web Interface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721EF4-967D-5644-9A9B-AE3ED3CE5F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9434" y="2256317"/>
            <a:ext cx="5674120" cy="3978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839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46169-B64F-7C4E-4DEF-055F17A83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661" y="350377"/>
            <a:ext cx="10515600" cy="1325563"/>
          </a:xfrm>
        </p:spPr>
        <p:txBody>
          <a:bodyPr/>
          <a:lstStyle/>
          <a:p>
            <a:r>
              <a:rPr lang="en-IN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Motivation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C4A66-9811-8A0C-A695-B35ED5E85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661" y="795516"/>
            <a:ext cx="11952339" cy="6062484"/>
          </a:xfrm>
        </p:spPr>
        <p:txBody>
          <a:bodyPr/>
          <a:lstStyle/>
          <a:p>
            <a:endParaRPr lang="en-IN" dirty="0"/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PCBs are critical → defects cause failures, cost, safety risks</a:t>
            </a:r>
          </a:p>
          <a:p>
            <a:pPr marL="0" indent="0">
              <a:buNone/>
            </a:pP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defects: Missing Hole, Mouse Bite, Open Circuit, Short, Spur, Spurious Copper</a:t>
            </a:r>
          </a:p>
          <a:p>
            <a:pPr marL="0" indent="0">
              <a:buNone/>
            </a:pP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</a:t>
            </a:r>
          </a:p>
          <a:p>
            <a:pPr marL="0" indent="0">
              <a:buNone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Manual inspection → slow, inconsistent</a:t>
            </a:r>
          </a:p>
          <a:p>
            <a:pPr marL="0" indent="0">
              <a:buNone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Rule-based AOI → high false positives, misses       </a:t>
            </a:r>
          </a:p>
          <a:p>
            <a:pPr marL="0" indent="0">
              <a:buNone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subtle defect</a:t>
            </a:r>
          </a:p>
          <a:p>
            <a:pPr marL="0" indent="0">
              <a:buNone/>
            </a:pPr>
            <a:r>
              <a:rPr lang="en-US" sz="2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Need: Accurate localization + real-time visual feedback</a:t>
            </a:r>
          </a:p>
          <a:p>
            <a:pPr marL="0" indent="0">
              <a:buNone/>
            </a:pP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138AB9-D83E-A59F-1CC6-CB075ECEDC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867" y="2983655"/>
            <a:ext cx="5643990" cy="3417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103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1B2B4-149C-35E1-D2C2-608F92829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Missed_Holes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Mouse_Bites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Open _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Circuites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Shorts                                                      Spur                                                 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Spurious_Copper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1D9845-DD93-7DF7-E544-BA6C369CFD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14" t="33213" r="19228" b="36524"/>
          <a:stretch>
            <a:fillRect/>
          </a:stretch>
        </p:blipFill>
        <p:spPr>
          <a:xfrm>
            <a:off x="88122" y="826067"/>
            <a:ext cx="2610836" cy="26304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8F0378-920B-45ED-D4D8-E7BAEF9C9B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62" t="42592" r="44845" b="28743"/>
          <a:stretch>
            <a:fillRect/>
          </a:stretch>
        </p:blipFill>
        <p:spPr>
          <a:xfrm>
            <a:off x="4214597" y="798532"/>
            <a:ext cx="2704589" cy="26125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DBFC56-140F-671B-94EE-57695F21DF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58" t="22943" r="27120" b="45703"/>
          <a:stretch>
            <a:fillRect/>
          </a:stretch>
        </p:blipFill>
        <p:spPr>
          <a:xfrm>
            <a:off x="7948130" y="806976"/>
            <a:ext cx="2639144" cy="260407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7C1A58A-D0A9-7F35-CE93-630BB760F9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12" t="43692" r="34069" b="21705"/>
          <a:stretch>
            <a:fillRect/>
          </a:stretch>
        </p:blipFill>
        <p:spPr>
          <a:xfrm>
            <a:off x="88122" y="3987634"/>
            <a:ext cx="2610837" cy="25736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1A0437D-770A-0DB8-27A9-297E548DDB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4596" y="3987634"/>
            <a:ext cx="2704589" cy="2662888"/>
          </a:xfrm>
          <a:prstGeom prst="rect">
            <a:avLst/>
          </a:prstGeom>
        </p:spPr>
      </p:pic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1F6016B2-99EE-8D29-300F-CEA769D948F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8840" t="69542" r="35274" b="5124"/>
          <a:stretch>
            <a:fillRect/>
          </a:stretch>
        </p:blipFill>
        <p:spPr>
          <a:xfrm>
            <a:off x="7948129" y="4046447"/>
            <a:ext cx="2765672" cy="2662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370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DB6E8-5273-65A6-F783-72A2C58C7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59" y="247137"/>
            <a:ext cx="10515600" cy="121295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66870E1-C73A-1992-AA99-D72F9925CF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7659" y="3907715"/>
            <a:ext cx="11092784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Prepare dataset from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DeepPCB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subtraction &amp; ROI extraction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Train high-accuracy object detection model (YOLOv8)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Build simple web app for upload → detect → download annotated results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Visual: Bullet icons + small flowchart teaser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4533EF-4358-EDE7-B0F3-A3EEC2EAE3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466" y="988748"/>
            <a:ext cx="5250424" cy="2964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404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50AF1-39CA-E541-3630-6DE77133F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0169"/>
            <a:ext cx="10999839" cy="1257198"/>
          </a:xfrm>
        </p:spPr>
        <p:txBody>
          <a:bodyPr>
            <a:normAutofit fontScale="90000"/>
          </a:bodyPr>
          <a:lstStyle/>
          <a:p>
            <a:r>
              <a:rPr lang="en-IN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Methodology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6450E9-1286-DEF6-BCD5-BDF5C4C42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119" y="999715"/>
            <a:ext cx="10515600" cy="5504324"/>
          </a:xfrm>
        </p:spPr>
        <p:txBody>
          <a:bodyPr>
            <a:normAutofit/>
          </a:bodyPr>
          <a:lstStyle/>
          <a:p>
            <a:r>
              <a:rPr lang="en-US" sz="2100" b="1" dirty="0"/>
              <a:t>System Architecture </a:t>
            </a:r>
          </a:p>
          <a:p>
            <a:endParaRPr lang="en-US" sz="2100" b="1" dirty="0"/>
          </a:p>
          <a:p>
            <a:endParaRPr lang="en-IN" sz="21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BDCB47-C1A9-993B-1E4A-0444A60C699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2254" y="1722838"/>
            <a:ext cx="2788675" cy="478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070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75627-0660-3CA6-5BEC-1F0365795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994" y="353961"/>
            <a:ext cx="10515600" cy="873740"/>
          </a:xfrm>
        </p:spPr>
        <p:txBody>
          <a:bodyPr>
            <a:normAutofit fontScale="90000"/>
          </a:bodyPr>
          <a:lstStyle/>
          <a:p>
            <a:r>
              <a:rPr lang="en-IN" sz="49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Milestone 1 – Dataset Preparation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D703F-3D4A-3161-7E90-1C3D09229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510" y="1253331"/>
            <a:ext cx="11447206" cy="5250708"/>
          </a:xfrm>
        </p:spPr>
        <p:txBody>
          <a:bodyPr/>
          <a:lstStyle/>
          <a:p>
            <a:r>
              <a:rPr lang="en-IN" sz="2100" dirty="0">
                <a:effectLst/>
              </a:rPr>
              <a:t>Dataset: </a:t>
            </a:r>
            <a:r>
              <a:rPr lang="en-IN" sz="2100" dirty="0" err="1">
                <a:effectLst/>
              </a:rPr>
              <a:t>DeepPCB</a:t>
            </a:r>
            <a:r>
              <a:rPr lang="en-IN" sz="2100" dirty="0">
                <a:effectLst/>
              </a:rPr>
              <a:t> (template-defect pairs)</a:t>
            </a:r>
          </a:p>
          <a:p>
            <a:pPr marL="0" indent="0">
              <a:buNone/>
            </a:pPr>
            <a:endParaRPr lang="en-IN" sz="2100" dirty="0">
              <a:effectLst/>
            </a:endParaRPr>
          </a:p>
          <a:p>
            <a:r>
              <a:rPr lang="en-IN" sz="2100" dirty="0">
                <a:effectLst/>
              </a:rPr>
              <a:t>Module 1: Image subtraction</a:t>
            </a:r>
          </a:p>
          <a:p>
            <a:pPr marL="0" indent="0">
              <a:buNone/>
            </a:pPr>
            <a:r>
              <a:rPr lang="en-IN" sz="2100" dirty="0"/>
              <a:t>             </a:t>
            </a:r>
            <a:r>
              <a:rPr lang="en-IN" sz="2100" dirty="0">
                <a:effectLst/>
              </a:rPr>
              <a:t>Grayscale → Resize (1/4) → Gaussian Blur → Adaptive Threshold →  </a:t>
            </a:r>
          </a:p>
          <a:p>
            <a:pPr marL="0" indent="0">
              <a:buNone/>
            </a:pPr>
            <a:r>
              <a:rPr lang="en-IN" sz="2100" dirty="0"/>
              <a:t>             </a:t>
            </a:r>
            <a:r>
              <a:rPr lang="en-IN" sz="2100" dirty="0">
                <a:effectLst/>
              </a:rPr>
              <a:t>Subtract → Otsu</a:t>
            </a:r>
          </a:p>
          <a:p>
            <a:pPr marL="0" indent="0">
              <a:buNone/>
            </a:pPr>
            <a:endParaRPr lang="en-IN" sz="2100" dirty="0">
              <a:effectLst/>
            </a:endParaRPr>
          </a:p>
          <a:p>
            <a:r>
              <a:rPr lang="en-US" sz="2100" dirty="0"/>
              <a:t>Module 2: Contour detection &amp; ROI crop </a:t>
            </a:r>
          </a:p>
          <a:p>
            <a:pPr marL="0" indent="0">
              <a:buNone/>
            </a:pPr>
            <a:r>
              <a:rPr lang="en-US" sz="2100" dirty="0"/>
              <a:t>                    Find contours → Filter area 1–300 → Crop 64×64 around centroid</a:t>
            </a:r>
          </a:p>
          <a:p>
            <a:pPr marL="0" indent="0">
              <a:buNone/>
            </a:pPr>
            <a:endParaRPr lang="en-IN" dirty="0">
              <a:effectLst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3612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73693E8-0CD1-549B-026B-9E9B2E57F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15" y="77942"/>
            <a:ext cx="2728452" cy="27625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0C94C8-B705-0FFD-CBF7-73D5C5FF4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3924" y="128538"/>
            <a:ext cx="2787061" cy="2711961"/>
          </a:xfrm>
          <a:prstGeom prst="rect">
            <a:avLst/>
          </a:prstGeom>
        </p:spPr>
      </p:pic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7C460C6B-DE74-F60C-41DC-558C0A737D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527413" y="52645"/>
            <a:ext cx="2787061" cy="28316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F2F9B93-B553-BF47-12A8-0460FAD151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4474" y="86750"/>
            <a:ext cx="2744790" cy="272845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A0DE88A-12F2-296F-2202-30C3C8F6934E}"/>
              </a:ext>
            </a:extLst>
          </p:cNvPr>
          <p:cNvSpPr txBox="1"/>
          <p:nvPr/>
        </p:nvSpPr>
        <p:spPr>
          <a:xfrm>
            <a:off x="5909801" y="1115186"/>
            <a:ext cx="3723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effectLst/>
              </a:rPr>
              <a:t>→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E3ED850-8FB4-8442-AACD-31D58C86D7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17986" y="3906218"/>
            <a:ext cx="2728452" cy="27119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FE58DC7-6F4D-B2A4-3982-A14BD59A64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52533" y="3906218"/>
            <a:ext cx="2728452" cy="27530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5050858-0057-6F90-E299-5748D58D5D01}"/>
              </a:ext>
            </a:extLst>
          </p:cNvPr>
          <p:cNvSpPr txBox="1"/>
          <p:nvPr/>
        </p:nvSpPr>
        <p:spPr>
          <a:xfrm>
            <a:off x="2730430" y="5077535"/>
            <a:ext cx="3723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effectLst/>
              </a:rPr>
              <a:t>→</a:t>
            </a:r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3718A72-F413-D083-B768-A667B23AF1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7413" y="3918508"/>
            <a:ext cx="2728452" cy="272845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52EF377-8329-CE53-81E9-1C84821BC62C}"/>
              </a:ext>
            </a:extLst>
          </p:cNvPr>
          <p:cNvSpPr txBox="1"/>
          <p:nvPr/>
        </p:nvSpPr>
        <p:spPr>
          <a:xfrm>
            <a:off x="5916889" y="5077535"/>
            <a:ext cx="3723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effectLst/>
              </a:rPr>
              <a:t>→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53570E-23A0-DD3D-1E04-C726318C3230}"/>
              </a:ext>
            </a:extLst>
          </p:cNvPr>
          <p:cNvSpPr txBox="1"/>
          <p:nvPr/>
        </p:nvSpPr>
        <p:spPr>
          <a:xfrm>
            <a:off x="9275371" y="5098068"/>
            <a:ext cx="3723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effectLst/>
              </a:rPr>
              <a:t>→</a:t>
            </a:r>
            <a:endParaRPr lang="en-IN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AB550A1-ACAF-CED1-66FC-7B83E09C4A1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3594" y="4219614"/>
            <a:ext cx="2245670" cy="2245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956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AA595-F36C-AA37-9B24-9371EA8BB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11" y="94307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Grey Scale Patches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FF73DF9-289F-AD0B-F273-EE9280B59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10" y="1202663"/>
            <a:ext cx="11454583" cy="55610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Missing_Hole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Mouse_Bite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Open_Circuit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  <a:p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0" indent="0">
              <a:buNone/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marL="0" indent="0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marL="0" indent="0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Short                                             Spur                                               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Spur_Copper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6F76DAA-DC92-D82C-C2DE-17256418A2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759" y="1618407"/>
            <a:ext cx="1935953" cy="19359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D6BD263-15F1-102D-ADE8-CC0E7EBD7D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5865" y="1618408"/>
            <a:ext cx="1819636" cy="18196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967D3C6-2105-0A6F-5818-11120CB9C1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8541" y="1618407"/>
            <a:ext cx="1935953" cy="193595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ADAA78D-1E34-E505-1629-BE3142740F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425" y="4492175"/>
            <a:ext cx="1937287" cy="193728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A4A6DE2-2AFF-558F-06A5-195E045232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7039" y="4492174"/>
            <a:ext cx="1937287" cy="193728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A467A06-8D7D-B567-94B0-2EDD0FAA0EC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8541" y="4493509"/>
            <a:ext cx="1935952" cy="1935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497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5B277-D163-A49C-7020-0B02A9B04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731" y="232390"/>
            <a:ext cx="10844605" cy="1325563"/>
          </a:xfrm>
        </p:spPr>
        <p:txBody>
          <a:bodyPr>
            <a:normAutofit fontScale="90000"/>
          </a:bodyPr>
          <a:lstStyle/>
          <a:p>
            <a:r>
              <a:rPr lang="en-US" sz="49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Milestone 2 – Model Training &amp; Evaluation</a:t>
            </a:r>
            <a:br>
              <a:rPr lang="en-US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27336-3E18-356E-3E2B-792364A4A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730" y="1148582"/>
            <a:ext cx="11270225" cy="4828099"/>
          </a:xfrm>
        </p:spPr>
        <p:txBody>
          <a:bodyPr/>
          <a:lstStyle/>
          <a:p>
            <a:r>
              <a:rPr lang="en-US" sz="2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Switched from </a:t>
            </a:r>
            <a:r>
              <a:rPr lang="en-US" sz="21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r>
              <a:rPr lang="en-US" sz="2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YOLOv8n (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efficient detection accuracy</a:t>
            </a:r>
            <a:r>
              <a:rPr lang="en-US" sz="2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</a:p>
          <a:p>
            <a:pPr marL="0" indent="0">
              <a:buNone/>
            </a:pPr>
            <a:r>
              <a:rPr lang="en-US" sz="2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Combine patches → XML → YOLO labels → Train/</a:t>
            </a:r>
            <a:r>
              <a:rPr lang="en-US" sz="21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sz="2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/test split                                          </a:t>
            </a:r>
          </a:p>
          <a:p>
            <a:pPr marL="0" indent="0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2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Train: 80 epochs, batch 16, </a:t>
            </a:r>
            <a:r>
              <a:rPr lang="en-US" sz="21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imgsz</a:t>
            </a:r>
            <a:r>
              <a:rPr lang="en-US" sz="2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=640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is applied to individual/new images → generate predictions, visualize results, compute per-image metrics</a:t>
            </a:r>
          </a:p>
          <a:p>
            <a:pPr marL="0" indent="0">
              <a:buNone/>
            </a:pPr>
            <a:endParaRPr lang="en-US" sz="2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7778949-B870-6F05-6E09-ED46112425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C96F2C-3C32-7F1C-C751-71C1BF30E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29" y="3562417"/>
            <a:ext cx="10832500" cy="3239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221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EC7FB-F058-3B1E-C097-546C4A67E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994"/>
            <a:ext cx="5989319" cy="1146868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 Training Process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5575DB0-0D57-3A93-E05B-51F39D2CC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1160" y="1087874"/>
            <a:ext cx="7010401" cy="6172200"/>
          </a:xfrm>
        </p:spPr>
        <p:txBody>
          <a:bodyPr>
            <a:normAutofit fontScale="77500" lnSpcReduction="20000"/>
          </a:bodyPr>
          <a:lstStyle/>
          <a:p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 + Augmentation </a:t>
            </a:r>
          </a:p>
          <a:p>
            <a:pPr marL="0" indent="0">
              <a:buNone/>
            </a:pP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configuration is done  as                    YOLOv8n/s/m/l/x + epochs=80, batch=16, </a:t>
            </a:r>
            <a:r>
              <a:rPr lang="en-IN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imgsz</a:t>
            </a: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=640</a:t>
            </a:r>
          </a:p>
          <a:p>
            <a:pPr marL="0" indent="0">
              <a:buNone/>
            </a:pPr>
            <a:endParaRPr lang="en-IN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enters Training Loop repeats the below process till completion of training round (epoch)                                                                         forward → loss → backward → optimizer → repeat.</a:t>
            </a:r>
          </a:p>
          <a:p>
            <a:pPr marL="0" indent="0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after epochs/Training round 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calculation on      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set → early stopping possible</a:t>
            </a:r>
          </a:p>
          <a:p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Evaluation performed on following metrics                               Mean Average Precision ,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Precision, Recall, F1-score</a:t>
            </a:r>
            <a:endParaRPr lang="en-IN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   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17CFE9-B09A-4083-2B9D-0665081B4B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8313"/>
            <a:ext cx="5471160" cy="4002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091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6B0F3-922F-D431-7006-2D794D17A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774" y="159055"/>
            <a:ext cx="9403326" cy="3041345"/>
          </a:xfrm>
        </p:spPr>
        <p:txBody>
          <a:bodyPr/>
          <a:lstStyle/>
          <a:p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Evaluation:</a:t>
            </a:r>
          </a:p>
          <a:p>
            <a:pPr marL="0" indent="0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Test set metrics: </a:t>
            </a:r>
          </a:p>
          <a:p>
            <a:pPr marL="0" indent="0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Test mAP@0.5 : 0.8390 ← Primary accuracy metric (</a:t>
            </a:r>
            <a:r>
              <a:rPr lang="en-IN" sz="2100" dirty="0"/>
              <a:t>Mean Average Precision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Test Precision (mean) : 0.8811 </a:t>
            </a:r>
          </a:p>
          <a:p>
            <a:pPr marL="0" indent="0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Test Recall (mean) : 0.7476 </a:t>
            </a:r>
          </a:p>
          <a:p>
            <a:pPr marL="0" indent="0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Test F1-score (mean) : 0.8040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49A9F9-EAC8-008A-3DF5-32D2831B1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790" y="2986548"/>
            <a:ext cx="11385930" cy="3340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1204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44EEF0-D9DA-7B4D-ECA2-78D6EB4BC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0" y="180514"/>
            <a:ext cx="10972800" cy="30733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9928DC-80CC-BDFE-9908-204065150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55" y="3925067"/>
            <a:ext cx="6452228" cy="275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4530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E4F32C-FD02-1C77-EB6F-5B44E76BB8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588" y="131222"/>
            <a:ext cx="8672052" cy="659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0617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15E67-219B-7C3B-FE11-8117E7058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 2 – Test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E63A6-0DB0-0A49-1766-2F51E1EA5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775" y="1110239"/>
            <a:ext cx="5343448" cy="5397500"/>
          </a:xfrm>
        </p:spPr>
        <p:txBody>
          <a:bodyPr>
            <a:normAutofit/>
          </a:bodyPr>
          <a:lstStyle/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data from every defect class in random manner</a:t>
            </a:r>
          </a:p>
          <a:p>
            <a:pPr marL="0" indent="0">
              <a:buNone/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the trained YOLOv8 model to perform inference on the selected test images</a:t>
            </a:r>
          </a:p>
          <a:p>
            <a:pPr marL="0" indent="0">
              <a:buNone/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YOLOv8 inference on each test image to generate defect predictions</a:t>
            </a:r>
          </a:p>
          <a:p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 red bounding boxes and labels on the original images, overlay predictions, and save the visualized results.</a:t>
            </a:r>
          </a:p>
          <a:p>
            <a:pPr marL="0" indent="0">
              <a:buNone/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all annotated images</a:t>
            </a:r>
          </a:p>
          <a:p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68176D-B7E5-EE30-65CD-8FD6BF51A8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5238"/>
            <a:ext cx="6037775" cy="374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6770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7B7A1-A996-D343-8B51-1294FB1FF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Detected Images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FD488-3FAB-0E17-370E-72440B5D1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1117703"/>
            <a:ext cx="11815917" cy="5607562"/>
          </a:xfrm>
        </p:spPr>
        <p:txBody>
          <a:bodyPr>
            <a:normAutofit/>
          </a:bodyPr>
          <a:lstStyle/>
          <a:p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Missing_Hole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Mouse_Bite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Open_Circuit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3E4C48-D06B-0C35-3FFF-7D87EB89FB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07" y="2058762"/>
            <a:ext cx="3824872" cy="34423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016CC2-9C88-123B-A3FC-DE76E431BA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9" y="2058763"/>
            <a:ext cx="3649125" cy="34423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F1031E-7765-CC1C-6170-DF7D370A0B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2444" y="2058762"/>
            <a:ext cx="3494449" cy="3442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151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D0FDC-2A05-893A-3C56-B8A3BC6E6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71" y="115523"/>
            <a:ext cx="10778613" cy="814746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Detected Images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E6E3F-D8E3-FF62-4803-519400098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171" y="1043959"/>
            <a:ext cx="12007658" cy="53125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Short                                                   Spur                                                      </a:t>
            </a:r>
            <a:r>
              <a:rPr lang="en-I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Spur_Copper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EA65F9-1580-7EB8-94D8-51F89CFB3B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2998" y="1546474"/>
            <a:ext cx="3670144" cy="36154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AF3049D-374A-24AA-F38C-2F5BB4AF67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71" y="1546473"/>
            <a:ext cx="3670143" cy="361546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8E32D82-C44E-D146-D617-61E39668DC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5220" y="1546474"/>
            <a:ext cx="3670143" cy="3615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528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E7BD3-AFD3-61D6-9BFF-E1D1111C8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96" y="500062"/>
            <a:ext cx="10943303" cy="1325563"/>
          </a:xfrm>
        </p:spPr>
        <p:txBody>
          <a:bodyPr>
            <a:normAutofit fontScale="90000"/>
          </a:bodyPr>
          <a:lstStyle/>
          <a:p>
            <a:r>
              <a:rPr lang="en-IN" sz="49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Milestone 3 : Web Application – </a:t>
            </a:r>
            <a:r>
              <a:rPr lang="en-IN" sz="49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49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UI</a:t>
            </a:r>
            <a:br>
              <a:rPr lang="en-IN" dirty="0">
                <a:effectLst/>
              </a:rPr>
            </a:b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E7815-D8A2-D9F1-E0B8-A7AF6E8A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495" y="1253331"/>
            <a:ext cx="11137491" cy="5265456"/>
          </a:xfrm>
        </p:spPr>
        <p:txBody>
          <a:bodyPr>
            <a:normAutofit/>
          </a:bodyPr>
          <a:lstStyle/>
          <a:p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UI is for frontend 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PCB image (.jpg/.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png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YOLOv8 detection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Side-by-side: Original vs Annotated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Defect table (class + confidence)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 annotated image</a:t>
            </a:r>
          </a:p>
          <a:p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Style: Thick red boxes (width=10), large bold white labels with black outline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5753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BB4E2-BEF4-553E-F62C-A46840EF6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9152"/>
            <a:ext cx="10336161" cy="829494"/>
          </a:xfrm>
        </p:spPr>
        <p:txBody>
          <a:bodyPr>
            <a:normAutofit fontScale="90000"/>
          </a:bodyPr>
          <a:lstStyle/>
          <a:p>
            <a:r>
              <a:rPr lang="en-IN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DF79E-09B9-F295-1F77-BFEEEB609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67928" y="691241"/>
            <a:ext cx="12459928" cy="629949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C71276-1988-8382-B4DC-DC64AC2B18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49" y="3429000"/>
            <a:ext cx="9547659" cy="3340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8A84FB-91BC-B3C8-F50E-24666B7442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687" y="629156"/>
            <a:ext cx="9181388" cy="159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EDD1EA-6AF6-DE05-EC47-FEFE8AE52A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777" y="2112082"/>
            <a:ext cx="7725913" cy="13169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186499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CD297-AC12-11D1-B240-0DFEAB384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4EA14-6123-747F-0501-C79B65D04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629" y="1518801"/>
            <a:ext cx="11122741" cy="5132721"/>
          </a:xfrm>
        </p:spPr>
        <p:txBody>
          <a:bodyPr>
            <a:normAutofit/>
          </a:bodyPr>
          <a:lstStyle/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end-to-end automated PCB defect detection system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Overcomes drawbacks of manual inspection &amp; rule-based AOI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YOLOv8 nano → accurate localization &amp; classification of 6 defects: Missing Hole, Mouse Bite, Open Circuit, Short, Spur, Spurious Copper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Switched from </a:t>
            </a:r>
            <a:r>
              <a:rPr lang="en-I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better small/subtle defect detection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test mAP@0.5 &gt; 0.83</a:t>
            </a:r>
          </a:p>
          <a:p>
            <a:r>
              <a:rPr lang="en-I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app: real-time upload, thick red boxes + bold labels, downloadable results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for industrial quality control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strong fusion of computer vision, deep learning &amp; deployment</a:t>
            </a:r>
          </a:p>
        </p:txBody>
      </p:sp>
    </p:spTree>
    <p:extLst>
      <p:ext uri="{BB962C8B-B14F-4D97-AF65-F5344CB8AC3E}">
        <p14:creationId xmlns:p14="http://schemas.microsoft.com/office/powerpoint/2010/main" val="97578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C43E2-5B50-2D8C-3681-991EA4DB3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774" y="232389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B3A45-7027-CE55-32B4-C6EB43595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009" y="3921590"/>
            <a:ext cx="9529916" cy="3463048"/>
          </a:xfrm>
        </p:spPr>
        <p:txBody>
          <a:bodyPr>
            <a:normAutofit/>
          </a:bodyPr>
          <a:lstStyle/>
          <a:p>
            <a:pPr lvl="0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for full-size PCB images (sliding window / tiling inference)</a:t>
            </a:r>
          </a:p>
          <a:p>
            <a:pPr lvl="0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template-test pair upload</a:t>
            </a:r>
          </a:p>
          <a:p>
            <a:pPr lvl="0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Mobile/edge deployment (YOLOv8 export to ONNX / </a:t>
            </a:r>
            <a:r>
              <a:rPr lang="en-I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TensorRT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0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 of more defect classes (e.g., solder joint issues)</a:t>
            </a:r>
          </a:p>
          <a:p>
            <a:pPr lvl="0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learning pipeline for continuous model improvement using  factory data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deployment with user authentication and report                                                                                 generation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08CAF2-719E-8A7E-44E8-5EE2F247A5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74" y="1263880"/>
            <a:ext cx="5370871" cy="2464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204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1438</TotalTime>
  <Words>817</Words>
  <Application>Microsoft Office PowerPoint</Application>
  <PresentationFormat>Widescreen</PresentationFormat>
  <Paragraphs>143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Office Theme</vt:lpstr>
      <vt:lpstr>PowerPoint Presentation</vt:lpstr>
      <vt:lpstr>INTRODUCTION</vt:lpstr>
      <vt:lpstr>Problem Statement &amp; Motivation </vt:lpstr>
      <vt:lpstr>PowerPoint Presentation</vt:lpstr>
      <vt:lpstr>Objectives </vt:lpstr>
      <vt:lpstr>  Methodology </vt:lpstr>
      <vt:lpstr>Milestone 1 – Dataset Preparation </vt:lpstr>
      <vt:lpstr>PowerPoint Presentation</vt:lpstr>
      <vt:lpstr>Grey Scale Patches</vt:lpstr>
      <vt:lpstr>Milestone 2 – Model Training &amp; Evaluation </vt:lpstr>
      <vt:lpstr>YOLO Training Process</vt:lpstr>
      <vt:lpstr>PowerPoint Presentation</vt:lpstr>
      <vt:lpstr>PowerPoint Presentation</vt:lpstr>
      <vt:lpstr>PowerPoint Presentation</vt:lpstr>
      <vt:lpstr>Milestone 2 – Test Inference </vt:lpstr>
      <vt:lpstr>Detected Images</vt:lpstr>
      <vt:lpstr>Detected Images</vt:lpstr>
      <vt:lpstr>Milestone 3 : Web Application – Streamlit UI  </vt:lpstr>
      <vt:lpstr>Results </vt:lpstr>
      <vt:lpstr>Conclusion </vt:lpstr>
      <vt:lpstr>Future Scope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satya suraj pedada</cp:lastModifiedBy>
  <cp:revision>50</cp:revision>
  <dcterms:created xsi:type="dcterms:W3CDTF">2026-01-16T10:50:09Z</dcterms:created>
  <dcterms:modified xsi:type="dcterms:W3CDTF">2026-02-11T08:12:46Z</dcterms:modified>
</cp:coreProperties>
</file>